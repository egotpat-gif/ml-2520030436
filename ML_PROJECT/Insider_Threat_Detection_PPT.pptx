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9/23/2026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9/23/2026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9/23/2026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Machine Learning (25SC2107E)</a:t>
            </a:r>
            <a:br>
              <a:rPr lang="en-US" sz="4000" b="1" dirty="0">
                <a:solidFill>
                  <a:srgbClr val="C00000"/>
                </a:solidFill>
                <a:latin typeface="+mn-lt"/>
              </a:rPr>
            </a:br>
            <a:br>
              <a:rPr lang="en-US" sz="4000" b="1" dirty="0">
                <a:solidFill>
                  <a:srgbClr val="C00000"/>
                </a:solidFill>
                <a:latin typeface="+mn-lt"/>
              </a:rPr>
            </a:br>
            <a:r>
              <a:rPr lang="en-US" sz="3200" b="1" dirty="0">
                <a:solidFill>
                  <a:srgbClr val="C00000"/>
                </a:solidFill>
                <a:latin typeface="+mn-lt"/>
              </a:rPr>
              <a:t>Insider Threat Detection Using Elastic Net Regularized Logistic Regression</a:t>
            </a: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p>
          <a:p>
            <a:r>
              <a:rPr lang="en-US" dirty="0">
                <a:solidFill>
                  <a:srgbClr val="0070C0"/>
                </a:solidFill>
              </a:rPr>
              <a:t>2520030436 – G. Eesha Yuktha</a:t>
            </a:r>
          </a:p>
          <a:p>
            <a:r>
              <a:rPr lang="en-US" dirty="0">
                <a:solidFill>
                  <a:srgbClr val="0070C0"/>
                </a:solidFill>
              </a:rPr>
              <a:t>2520030258 – B. Sai Saranya</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Name of the Machine Learning faculty name with designation and department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15000"/>
              </a:lnSpc>
              <a:spcBef>
                <a:spcPts val="0"/>
              </a:spcBef>
              <a:spcAft>
                <a:spcPts val="0"/>
              </a:spcAft>
              <a:buFont typeface="Arial" panose="020B0604020202020204" pitchFamily="34" charset="0"/>
              <a:buChar char="•"/>
            </a:pPr>
            <a:r>
              <a:rPr lang="en-US" sz="24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15000"/>
              </a:lnSpc>
              <a:spcBef>
                <a:spcPts val="0"/>
              </a:spcBef>
              <a:spcAft>
                <a:spcPts val="0"/>
              </a:spcAft>
              <a:buFont typeface="Arial" panose="020B0604020202020204" pitchFamily="34" charset="0"/>
              <a:buChar char="•"/>
            </a:pPr>
            <a:r>
              <a:rPr lang="en-US" sz="2400" b="0" i="0" u="none" strike="noStrike" kern="1200" dirty="0">
                <a:solidFill>
                  <a:srgbClr val="000000"/>
                </a:solidFill>
                <a:effectLst/>
                <a:latin typeface="Calibri" panose="020F0502020204030204" pitchFamily="34" charset="0"/>
              </a:rPr>
              <a:t>Introduction</a:t>
            </a:r>
            <a:endParaRPr lang="en-IN" sz="2400" b="0" i="0" u="none" strike="noStrike" dirty="0">
              <a:effectLst/>
              <a:latin typeface="Arial" panose="020B0604020202020204" pitchFamily="34" charset="0"/>
            </a:endParaRPr>
          </a:p>
          <a:p>
            <a:pPr marL="457200" indent="-457200" algn="l" rtl="0" eaLnBrk="1" fontAlgn="t" latinLnBrk="0" hangingPunct="1">
              <a:lnSpc>
                <a:spcPct val="115000"/>
              </a:lnSpc>
              <a:spcBef>
                <a:spcPts val="0"/>
              </a:spcBef>
              <a:spcAft>
                <a:spcPts val="800"/>
              </a:spcAft>
              <a:buFont typeface="Arial" panose="020B0604020202020204" pitchFamily="34" charset="0"/>
              <a:buChar char="•"/>
            </a:pPr>
            <a:r>
              <a:rPr 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2400" b="0" i="0" u="none" strike="noStrike" dirty="0">
              <a:effectLst/>
              <a:latin typeface="Arial" panose="020B0604020202020204" pitchFamily="34" charset="0"/>
            </a:endParaRPr>
          </a:p>
          <a:p>
            <a:pPr marL="457200" indent="-457200" algn="l" rtl="0" eaLnBrk="1" fontAlgn="t" latinLnBrk="0" hangingPunct="1">
              <a:lnSpc>
                <a:spcPct val="110000"/>
              </a:lnSpc>
              <a:spcBef>
                <a:spcPts val="0"/>
              </a:spcBef>
              <a:spcAft>
                <a:spcPts val="800"/>
              </a:spcAft>
              <a:buFont typeface="Arial" panose="020B0604020202020204" pitchFamily="34" charset="0"/>
              <a:buChar char="•"/>
            </a:pPr>
            <a:r>
              <a:rPr 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2400" b="0" i="0" u="none" strike="noStrike" dirty="0">
              <a:effectLst/>
              <a:latin typeface="Arial" panose="020B0604020202020204" pitchFamily="34" charset="0"/>
            </a:endParaRPr>
          </a:p>
          <a:p>
            <a:pPr marL="457200" indent="-457200" algn="l" rtl="0" eaLnBrk="1" fontAlgn="t" latinLnBrk="0" hangingPunct="1">
              <a:lnSpc>
                <a:spcPct val="110000"/>
              </a:lnSpc>
              <a:spcBef>
                <a:spcPts val="0"/>
              </a:spcBef>
              <a:spcAft>
                <a:spcPts val="800"/>
              </a:spcAft>
              <a:buFont typeface="Arial" panose="020B0604020202020204" pitchFamily="34" charset="0"/>
              <a:buChar char="•"/>
            </a:pPr>
            <a:r>
              <a:rPr 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Flow Chart</a:t>
            </a:r>
            <a:endParaRPr lang="en-IN" sz="2400" b="0" i="0" u="none" strike="noStrike" dirty="0">
              <a:effectLst/>
              <a:latin typeface="Arial" panose="020B0604020202020204" pitchFamily="34" charset="0"/>
            </a:endParaRPr>
          </a:p>
          <a:p>
            <a:pPr marL="457200" indent="-457200" algn="l" rtl="0" eaLnBrk="1" fontAlgn="t" latinLnBrk="0" hangingPunct="1">
              <a:lnSpc>
                <a:spcPct val="110000"/>
              </a:lnSpc>
              <a:spcBef>
                <a:spcPts val="0"/>
              </a:spcBef>
              <a:spcAft>
                <a:spcPts val="800"/>
              </a:spcAft>
              <a:buFont typeface="Arial" panose="020B0604020202020204" pitchFamily="34" charset="0"/>
              <a:buChar char="•"/>
            </a:pPr>
            <a:r>
              <a:rPr 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2400" b="0" i="0" u="none" strike="noStrike" dirty="0">
              <a:effectLst/>
              <a:latin typeface="Arial" panose="020B0604020202020204" pitchFamily="34" charset="0"/>
            </a:endParaRPr>
          </a:p>
          <a:p>
            <a:pPr marL="457200" indent="-457200" algn="l" rtl="0" eaLnBrk="1" fontAlgn="t" latinLnBrk="0" hangingPunct="1">
              <a:lnSpc>
                <a:spcPct val="110000"/>
              </a:lnSpc>
              <a:spcBef>
                <a:spcPts val="0"/>
              </a:spcBef>
              <a:spcAft>
                <a:spcPts val="800"/>
              </a:spcAft>
              <a:buFont typeface="Arial" panose="020B0604020202020204" pitchFamily="34" charset="0"/>
              <a:buChar char="•"/>
            </a:pPr>
            <a:r>
              <a:rPr 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2400" b="0" i="0" u="none" strike="noStrike" dirty="0">
              <a:effectLst/>
              <a:latin typeface="Arial" panose="020B0604020202020204" pitchFamily="34" charset="0"/>
            </a:endParaRPr>
          </a:p>
          <a:p>
            <a:pPr marL="457200" indent="-457200" algn="l" rtl="0" eaLnBrk="1" fontAlgn="t" latinLnBrk="0" hangingPunct="1">
              <a:lnSpc>
                <a:spcPct val="110000"/>
              </a:lnSpc>
              <a:spcBef>
                <a:spcPts val="0"/>
              </a:spcBef>
              <a:spcAft>
                <a:spcPts val="800"/>
              </a:spcAft>
              <a:buFont typeface="Arial" panose="020B0604020202020204" pitchFamily="34" charset="0"/>
              <a:buChar char="•"/>
            </a:pPr>
            <a:r>
              <a:rPr 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10000"/>
              </a:lnSpc>
              <a:spcBef>
                <a:spcPts val="0"/>
              </a:spcBef>
              <a:spcAft>
                <a:spcPts val="800"/>
              </a:spcAft>
              <a:buFont typeface="Arial" panose="020B0604020202020204" pitchFamily="34" charset="0"/>
              <a:buChar char="•"/>
            </a:pPr>
            <a:r>
              <a:rPr 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24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AbstractBullets"/>
          <p:cNvSpPr txBox="1"/>
          <p:nvPr/>
        </p:nvSpPr>
        <p:spPr>
          <a:xfrm>
            <a:off x="685800" y="990600"/>
            <a:ext cx="7100000" cy="5300000"/>
          </a:xfrm>
          <a:prstGeom prst="rect">
            <a:avLst/>
          </a:prstGeom>
          <a:noFill/>
        </p:spPr>
        <p:txBody>
          <a:bodyPr wrap="square" anchor="t">
            <a:normAutofit/>
          </a:bodyPr>
          <a:lstStyle/>
          <a:p>
            <a:pPr marL="285750" indent="-285750">
              <a:spcAft>
                <a:spcPts val="1000"/>
              </a:spcAft>
              <a:buFont typeface="Arial"/>
              <a:buChar char="•"/>
            </a:pPr>
            <a:r>
              <a:rPr lang="en-US" sz="1600" b="1" dirty="0">
                <a:solidFill>
                  <a:srgbClr val="C00000"/>
                </a:solidFill>
              </a:rPr>
              <a:t>Problem: </a:t>
            </a:r>
            <a:r>
              <a:rPr lang="en-US" sz="1600" dirty="0">
                <a:solidFill>
                  <a:srgbClr val="262626"/>
                </a:solidFill>
              </a:rPr>
              <a:t>Insider threats occur when authorized users misuse their legitimate access to steal sensitive information or damage organizational systems.</a:t>
            </a:r>
          </a:p>
          <a:p>
            <a:pPr marL="285750" indent="-285750">
              <a:spcAft>
                <a:spcPts val="1000"/>
              </a:spcAft>
              <a:buFont typeface="Arial"/>
              <a:buChar char="•"/>
            </a:pPr>
            <a:r>
              <a:rPr lang="en-US" sz="1600" b="1" dirty="0">
                <a:solidFill>
                  <a:srgbClr val="C00000"/>
                </a:solidFill>
              </a:rPr>
              <a:t>Approach: </a:t>
            </a:r>
            <a:r>
              <a:rPr lang="en-US" sz="1600" dirty="0">
                <a:solidFill>
                  <a:srgbClr val="262626"/>
                </a:solidFill>
              </a:rPr>
              <a:t>An Insider Threat Detection System is proposed using Elastic Net Regularized Logistic Regression to classify user activity as normal or potentially malicious.</a:t>
            </a:r>
          </a:p>
          <a:p>
            <a:pPr marL="285750" indent="-285750">
              <a:spcAft>
                <a:spcPts val="1000"/>
              </a:spcAft>
              <a:buFont typeface="Arial"/>
              <a:buChar char="•"/>
            </a:pPr>
            <a:r>
              <a:rPr lang="en-US" sz="1600" b="1" dirty="0">
                <a:solidFill>
                  <a:srgbClr val="C00000"/>
                </a:solidFill>
              </a:rPr>
              <a:t>Features used: </a:t>
            </a:r>
            <a:r>
              <a:rPr lang="en-US" sz="1600" dirty="0">
                <a:solidFill>
                  <a:srgbClr val="262626"/>
                </a:solidFill>
              </a:rPr>
              <a:t>Behavioral and security-related signals are analyzed — login patterns, file access, access frequency, and unusual user behavior.</a:t>
            </a:r>
          </a:p>
          <a:p>
            <a:pPr marL="285750" indent="-285750">
              <a:spcAft>
                <a:spcPts val="1000"/>
              </a:spcAft>
              <a:buFont typeface="Arial"/>
              <a:buChar char="•"/>
            </a:pPr>
            <a:r>
              <a:rPr lang="en-US" sz="1600" b="1" dirty="0">
                <a:solidFill>
                  <a:srgbClr val="C00000"/>
                </a:solidFill>
              </a:rPr>
              <a:t>Why Elastic Net: </a:t>
            </a:r>
            <a:r>
              <a:rPr lang="en-US" sz="1600" dirty="0">
                <a:solidFill>
                  <a:srgbClr val="262626"/>
                </a:solidFill>
              </a:rPr>
              <a:t>Elastic Net combines L1 and L2 penalties, enabling automatic feature selection while reducing overfitting on correlated behavioral data.</a:t>
            </a:r>
          </a:p>
          <a:p>
            <a:pPr marL="285750" indent="-285750">
              <a:spcAft>
                <a:spcPts val="1000"/>
              </a:spcAft>
              <a:buFont typeface="Arial"/>
              <a:buChar char="•"/>
            </a:pPr>
            <a:r>
              <a:rPr lang="en-US" sz="1600" b="1" dirty="0">
                <a:solidFill>
                  <a:srgbClr val="C00000"/>
                </a:solidFill>
              </a:rPr>
              <a:t>Evaluation: </a:t>
            </a:r>
            <a:r>
              <a:rPr lang="en-US" sz="1600" dirty="0">
                <a:solidFill>
                  <a:srgbClr val="262626"/>
                </a:solidFill>
              </a:rPr>
              <a:t>The model is trained and evaluated using accuracy, precision, recall, F1-score, and ROC-AUC.</a:t>
            </a:r>
          </a:p>
          <a:p>
            <a:pPr marL="285750" indent="-285750">
              <a:spcAft>
                <a:spcPts val="1000"/>
              </a:spcAft>
              <a:buFont typeface="Arial"/>
              <a:buChar char="•"/>
            </a:pPr>
            <a:r>
              <a:rPr lang="en-US" sz="1600" b="1" dirty="0">
                <a:solidFill>
                  <a:srgbClr val="C00000"/>
                </a:solidFill>
              </a:rPr>
              <a:t>Impact: </a:t>
            </a:r>
            <a:r>
              <a:rPr lang="en-US" sz="1600" dirty="0">
                <a:solidFill>
                  <a:srgbClr val="262626"/>
                </a:solidFill>
              </a:rPr>
              <a:t>Demonstrates how ML can help cybersecurity teams flag suspicious behavior early and reduce the risk of insider attacks.</a:t>
            </a:r>
          </a:p>
        </p:txBody>
      </p:sp>
      <p:sp>
        <p:nvSpPr>
          <p:cNvPr id="20" name="SnapshotCard"/>
          <p:cNvSpPr/>
          <p:nvPr/>
        </p:nvSpPr>
        <p:spPr>
          <a:xfrm>
            <a:off x="8100000" y="990600"/>
            <a:ext cx="3400000" cy="4600000"/>
          </a:xfrm>
          <a:prstGeom prst="roundRect">
            <a:avLst>
              <a:gd name="adj" fmla="val 6000"/>
            </a:avLst>
          </a:prstGeom>
          <a:solidFill>
            <a:srgbClr val="FBECEC"/>
          </a:solidFill>
        </p:spPr>
        <p:txBody>
          <a:bodyPr/>
          <a:lstStyle/>
          <a:p>
            <a:endParaRPr lang="en-US"/>
          </a:p>
        </p:txBody>
      </p:sp>
      <p:sp>
        <p:nvSpPr>
          <p:cNvPr id="21" name="SnapshotTitle"/>
          <p:cNvSpPr txBox="1"/>
          <p:nvPr/>
        </p:nvSpPr>
        <p:spPr>
          <a:xfrm>
            <a:off x="8100000" y="1090600"/>
            <a:ext cx="3400000" cy="400000"/>
          </a:xfrm>
          <a:prstGeom prst="rect">
            <a:avLst/>
          </a:prstGeom>
          <a:noFill/>
        </p:spPr>
        <p:txBody>
          <a:bodyPr wrap="square" anchor="t"/>
          <a:lstStyle/>
          <a:p>
            <a:pPr algn="ctr">
              <a:spcAft>
                <a:spcPts val="0"/>
              </a:spcAft>
            </a:pPr>
            <a:r>
              <a:rPr lang="en-US" sz="1500" b="1" dirty="0">
                <a:solidFill>
                  <a:srgbClr val="C00000"/>
                </a:solidFill>
              </a:rPr>
              <a:t>Project Snapshot</a:t>
            </a:r>
          </a:p>
        </p:txBody>
      </p:sp>
      <p:sp>
        <p:nvSpPr>
          <p:cNvPr id="22" name="SnapshotBody"/>
          <p:cNvSpPr txBox="1"/>
          <p:nvPr/>
        </p:nvSpPr>
        <p:spPr>
          <a:xfrm>
            <a:off x="8300000" y="1650000"/>
            <a:ext cx="3000000" cy="3800000"/>
          </a:xfrm>
          <a:prstGeom prst="rect">
            <a:avLst/>
          </a:prstGeom>
          <a:noFill/>
        </p:spPr>
        <p:txBody>
          <a:bodyPr wrap="square" anchor="t"/>
          <a:lstStyle/>
          <a:p>
            <a:pPr marL="228600" indent="-228600">
              <a:spcAft>
                <a:spcPts val="600"/>
              </a:spcAft>
              <a:buFont typeface="Arial"/>
              <a:buChar char="•"/>
            </a:pPr>
            <a:r>
              <a:rPr lang="en-US" sz="1300" dirty="0">
                <a:solidFill>
                  <a:srgbClr val="262626"/>
                </a:solidFill>
              </a:rPr>
              <a:t>1500 event records, 23 features</a:t>
            </a:r>
          </a:p>
          <a:p>
            <a:pPr marL="228600" indent="-228600">
              <a:spcAft>
                <a:spcPts val="600"/>
              </a:spcAft>
              <a:buFont typeface="Arial"/>
              <a:buChar char="•"/>
            </a:pPr>
            <a:r>
              <a:rPr lang="en-US" sz="1300" dirty="0">
                <a:solidFill>
                  <a:srgbClr val="262626"/>
                </a:solidFill>
              </a:rPr>
              <a:t>250 unique users, 7 departments</a:t>
            </a:r>
          </a:p>
          <a:p>
            <a:pPr marL="228600" indent="-228600">
              <a:spcAft>
                <a:spcPts val="600"/>
              </a:spcAft>
              <a:buFont typeface="Arial"/>
              <a:buChar char="•"/>
            </a:pPr>
            <a:r>
              <a:rPr lang="en-US" sz="1300" dirty="0">
                <a:solidFill>
                  <a:srgbClr val="262626"/>
                </a:solidFill>
              </a:rPr>
              <a:t>Model: Elastic Net Logistic Regression</a:t>
            </a:r>
          </a:p>
          <a:p>
            <a:pPr marL="228600" indent="-228600">
              <a:spcAft>
                <a:spcPts val="600"/>
              </a:spcAft>
              <a:buFont typeface="Arial"/>
              <a:buChar char="•"/>
            </a:pPr>
            <a:r>
              <a:rPr lang="en-US" sz="1300" dirty="0">
                <a:solidFill>
                  <a:srgbClr val="262626"/>
                </a:solidFill>
              </a:rPr>
              <a:t>Metrics: Accuracy, Precision, Recall, F1, ROC-AUC</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IntroBullets"/>
          <p:cNvSpPr txBox="1"/>
          <p:nvPr/>
        </p:nvSpPr>
        <p:spPr>
          <a:xfrm>
            <a:off x="685800" y="990600"/>
            <a:ext cx="7100000" cy="5300000"/>
          </a:xfrm>
          <a:prstGeom prst="rect">
            <a:avLst/>
          </a:prstGeom>
          <a:noFill/>
        </p:spPr>
        <p:txBody>
          <a:bodyPr wrap="square" anchor="t">
            <a:normAutofit/>
          </a:bodyPr>
          <a:lstStyle/>
          <a:p>
            <a:pPr marL="285750" indent="-285750">
              <a:spcAft>
                <a:spcPts val="1000"/>
              </a:spcAft>
              <a:buFont typeface="Arial"/>
              <a:buChar char="•"/>
            </a:pPr>
            <a:r>
              <a:rPr lang="en-US" sz="1600" dirty="0">
                <a:solidFill>
                  <a:srgbClr val="262626"/>
                </a:solidFill>
              </a:rPr>
              <a:t>Insiders are employees, contractors, or partners who already hold legitimate access — they don't need to break in, they can simply misuse the access they have.</a:t>
            </a:r>
          </a:p>
          <a:p>
            <a:pPr marL="285750" indent="-285750">
              <a:spcAft>
                <a:spcPts val="1000"/>
              </a:spcAft>
              <a:buFont typeface="Arial"/>
              <a:buChar char="•"/>
            </a:pPr>
            <a:r>
              <a:rPr lang="en-US" sz="1600" dirty="0">
                <a:solidFill>
                  <a:srgbClr val="262626"/>
                </a:solidFill>
              </a:rPr>
              <a:t>Perimeter defenses such as firewalls and intrusion-detection systems are built to catch outside attackers, so they largely miss valid credentials being used for malicious purposes.</a:t>
            </a:r>
          </a:p>
          <a:p>
            <a:pPr marL="285750" indent="-285750">
              <a:spcAft>
                <a:spcPts val="1000"/>
              </a:spcAft>
              <a:buFont typeface="Arial"/>
              <a:buChar char="•"/>
            </a:pPr>
            <a:r>
              <a:rPr lang="en-US" sz="1600" dirty="0">
                <a:solidFill>
                  <a:srgbClr val="262626"/>
                </a:solidFill>
              </a:rPr>
              <a:t>Behavioral analytics offers a way forward: monitoring login times, file access volume, downloads, and device usage can reveal patterns that don't fit a user's normal routine.</a:t>
            </a:r>
          </a:p>
          <a:p>
            <a:pPr marL="285750" indent="-285750">
              <a:spcAft>
                <a:spcPts val="1000"/>
              </a:spcAft>
              <a:buFont typeface="Arial"/>
              <a:buChar char="•"/>
            </a:pPr>
            <a:r>
              <a:rPr lang="en-US" sz="1600" dirty="0">
                <a:solidFill>
                  <a:srgbClr val="262626"/>
                </a:solidFill>
              </a:rPr>
              <a:t>This project applies Elastic Net regularized Logistic Regression to structured behavioral log data — 1500 events across 23 login, file-access, and device-usage features.</a:t>
            </a:r>
          </a:p>
          <a:p>
            <a:pPr marL="285750" indent="-285750">
              <a:spcAft>
                <a:spcPts val="1000"/>
              </a:spcAft>
              <a:buFont typeface="Arial"/>
              <a:buChar char="•"/>
            </a:pPr>
            <a:r>
              <a:rPr lang="en-US" sz="1600" dirty="0">
                <a:solidFill>
                  <a:srgbClr val="262626"/>
                </a:solidFill>
              </a:rPr>
              <a:t>Goal: build an interpretable, regularized classifier that flags suspicious activity early, even when the underlying features are highly correlated with one another.</a:t>
            </a:r>
          </a:p>
        </p:txBody>
      </p:sp>
      <p:sp>
        <p:nvSpPr>
          <p:cNvPr id="20" name="StatCard20"/>
          <p:cNvSpPr/>
          <p:nvPr/>
        </p:nvSpPr>
        <p:spPr>
          <a:xfrm>
            <a:off x="8100000" y="990600"/>
            <a:ext cx="3400000" cy="1350000"/>
          </a:xfrm>
          <a:prstGeom prst="roundRect">
            <a:avLst>
              <a:gd name="adj" fmla="val 6000"/>
            </a:avLst>
          </a:prstGeom>
          <a:solidFill>
            <a:srgbClr val="FBECEC"/>
          </a:solidFill>
        </p:spPr>
        <p:txBody>
          <a:bodyPr/>
          <a:lstStyle/>
          <a:p>
            <a:endParaRPr lang="en-US"/>
          </a:p>
        </p:txBody>
      </p:sp>
      <p:sp>
        <p:nvSpPr>
          <p:cNvPr id="21" name="StatText20"/>
          <p:cNvSpPr txBox="1"/>
          <p:nvPr/>
        </p:nvSpPr>
        <p:spPr>
          <a:xfrm>
            <a:off x="8100000" y="1215600"/>
            <a:ext cx="3400000" cy="900000"/>
          </a:xfrm>
          <a:prstGeom prst="rect">
            <a:avLst/>
          </a:prstGeom>
          <a:noFill/>
        </p:spPr>
        <p:txBody>
          <a:bodyPr wrap="square" anchor="ctr"/>
          <a:lstStyle/>
          <a:p>
            <a:pPr algn="ctr"/>
            <a:r>
              <a:rPr lang="en-US" sz="2400" b="1" dirty="0">
                <a:solidFill>
                  <a:srgbClr val="C00000"/>
                </a:solidFill>
              </a:rPr>
              <a:t>23</a:t>
            </a:r>
          </a:p>
          <a:p>
            <a:pPr algn="ctr"/>
            <a:r>
              <a:rPr lang="en-US" sz="1200" dirty="0">
                <a:solidFill>
                  <a:srgbClr val="404040"/>
                </a:solidFill>
              </a:rPr>
              <a:t>Behavioral features tracked</a:t>
            </a:r>
          </a:p>
        </p:txBody>
      </p:sp>
      <p:sp>
        <p:nvSpPr>
          <p:cNvPr id="24" name="StatCard24"/>
          <p:cNvSpPr/>
          <p:nvPr/>
        </p:nvSpPr>
        <p:spPr>
          <a:xfrm>
            <a:off x="8100000" y="2500000"/>
            <a:ext cx="3400000" cy="1350000"/>
          </a:xfrm>
          <a:prstGeom prst="roundRect">
            <a:avLst>
              <a:gd name="adj" fmla="val 6000"/>
            </a:avLst>
          </a:prstGeom>
          <a:solidFill>
            <a:srgbClr val="FBECEC"/>
          </a:solidFill>
        </p:spPr>
        <p:txBody>
          <a:bodyPr/>
          <a:lstStyle/>
          <a:p>
            <a:endParaRPr lang="en-US"/>
          </a:p>
        </p:txBody>
      </p:sp>
      <p:sp>
        <p:nvSpPr>
          <p:cNvPr id="25" name="StatText24"/>
          <p:cNvSpPr txBox="1"/>
          <p:nvPr/>
        </p:nvSpPr>
        <p:spPr>
          <a:xfrm>
            <a:off x="8100000" y="2725000"/>
            <a:ext cx="3400000" cy="900000"/>
          </a:xfrm>
          <a:prstGeom prst="rect">
            <a:avLst/>
          </a:prstGeom>
          <a:noFill/>
        </p:spPr>
        <p:txBody>
          <a:bodyPr wrap="square" anchor="ctr"/>
          <a:lstStyle/>
          <a:p>
            <a:pPr algn="ctr"/>
            <a:r>
              <a:rPr lang="en-US" sz="2400" b="1" dirty="0">
                <a:solidFill>
                  <a:srgbClr val="C00000"/>
                </a:solidFill>
              </a:rPr>
              <a:t>250</a:t>
            </a:r>
          </a:p>
          <a:p>
            <a:pPr algn="ctr"/>
            <a:r>
              <a:rPr lang="en-US" sz="1200" dirty="0">
                <a:solidFill>
                  <a:srgbClr val="404040"/>
                </a:solidFill>
              </a:rPr>
              <a:t>Unique users monitored</a:t>
            </a:r>
          </a:p>
        </p:txBody>
      </p:sp>
      <p:sp>
        <p:nvSpPr>
          <p:cNvPr id="28" name="StatCard28"/>
          <p:cNvSpPr/>
          <p:nvPr/>
        </p:nvSpPr>
        <p:spPr>
          <a:xfrm>
            <a:off x="8100000" y="4010000"/>
            <a:ext cx="3400000" cy="1350000"/>
          </a:xfrm>
          <a:prstGeom prst="roundRect">
            <a:avLst>
              <a:gd name="adj" fmla="val 6000"/>
            </a:avLst>
          </a:prstGeom>
          <a:solidFill>
            <a:srgbClr val="FBECEC"/>
          </a:solidFill>
        </p:spPr>
        <p:txBody>
          <a:bodyPr/>
          <a:lstStyle/>
          <a:p>
            <a:endParaRPr lang="en-US"/>
          </a:p>
        </p:txBody>
      </p:sp>
      <p:sp>
        <p:nvSpPr>
          <p:cNvPr id="29" name="StatText28"/>
          <p:cNvSpPr txBox="1"/>
          <p:nvPr/>
        </p:nvSpPr>
        <p:spPr>
          <a:xfrm>
            <a:off x="8100000" y="4235000"/>
            <a:ext cx="3400000" cy="900000"/>
          </a:xfrm>
          <a:prstGeom prst="rect">
            <a:avLst/>
          </a:prstGeom>
          <a:noFill/>
        </p:spPr>
        <p:txBody>
          <a:bodyPr wrap="square" anchor="ctr"/>
          <a:lstStyle/>
          <a:p>
            <a:pPr algn="ctr"/>
            <a:r>
              <a:rPr lang="en-US" sz="2400" b="1" dirty="0">
                <a:solidFill>
                  <a:srgbClr val="C00000"/>
                </a:solidFill>
              </a:rPr>
              <a:t>7</a:t>
            </a:r>
          </a:p>
          <a:p>
            <a:pPr algn="ctr"/>
            <a:r>
              <a:rPr lang="en-US" sz="1200" dirty="0">
                <a:solidFill>
                  <a:srgbClr val="404040"/>
                </a:solidFill>
              </a:rPr>
              <a:t>Departments covered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LitSurvey"/>
          <p:cNvSpPr txBox="1"/>
          <p:nvPr/>
        </p:nvSpPr>
        <p:spPr>
          <a:xfrm>
            <a:off x="685800" y="950000"/>
            <a:ext cx="10820000" cy="5500000"/>
          </a:xfrm>
          <a:prstGeom prst="rect">
            <a:avLst/>
          </a:prstGeom>
          <a:noFill/>
        </p:spPr>
        <p:txBody>
          <a:bodyPr wrap="square" anchor="t">
            <a:normAutofit/>
          </a:bodyPr>
          <a:lstStyle/>
          <a:p>
            <a:pPr marL="285750" indent="-285750">
              <a:spcAft>
                <a:spcPts val="1000"/>
              </a:spcAft>
              <a:buFont typeface="Arial"/>
              <a:buChar char="•"/>
            </a:pPr>
            <a:r>
              <a:rPr lang="en-US" sz="1600" b="1" dirty="0">
                <a:solidFill>
                  <a:srgbClr val="C00000"/>
                </a:solidFill>
              </a:rPr>
              <a:t>Rule-based / SIEM systems: </a:t>
            </a:r>
            <a:r>
              <a:rPr lang="en-US" sz="1600" dirty="0">
                <a:solidFill>
                  <a:srgbClr val="262626"/>
                </a:solidFill>
              </a:rPr>
              <a:t>Rule-based &amp; SIEM systems apply static thresholds and known-misuse signatures; effective for known patterns but blind to novel behavior and prone to high false-positive rates.</a:t>
            </a:r>
          </a:p>
          <a:p>
            <a:pPr marL="285750" indent="-285750">
              <a:spcAft>
                <a:spcPts val="1000"/>
              </a:spcAft>
              <a:buFont typeface="Arial"/>
              <a:buChar char="•"/>
            </a:pPr>
            <a:r>
              <a:rPr lang="en-US" sz="1600" b="1" dirty="0">
                <a:solidFill>
                  <a:srgbClr val="C00000"/>
                </a:solidFill>
              </a:rPr>
              <a:t>Unsupervised anomaly detection: </a:t>
            </a:r>
            <a:r>
              <a:rPr lang="en-US" sz="1600" dirty="0">
                <a:solidFill>
                  <a:srgbClr val="262626"/>
                </a:solidFill>
              </a:rPr>
              <a:t>Clustering, PCA and isolation-forest methods flag outlier sessions without needing labeled attacks, but struggle to separate genuine anomalies from true insider threats.</a:t>
            </a:r>
          </a:p>
          <a:p>
            <a:pPr marL="285750" indent="-285750">
              <a:spcAft>
                <a:spcPts val="1000"/>
              </a:spcAft>
              <a:buFont typeface="Arial"/>
              <a:buChar char="•"/>
            </a:pPr>
            <a:r>
              <a:rPr lang="en-US" sz="1600" b="1" dirty="0">
                <a:solidFill>
                  <a:srgbClr val="C00000"/>
                </a:solidFill>
              </a:rPr>
              <a:t>Supervised ML classifiers: </a:t>
            </a:r>
            <a:r>
              <a:rPr lang="en-US" sz="1600" dirty="0">
                <a:solidFill>
                  <a:srgbClr val="262626"/>
                </a:solidFill>
              </a:rPr>
              <a:t>Logistic regression, random forest and SVM trained on labeled behavioral logs perform well, but plain (unregularized) models can overfit or mis-weight correlated features.</a:t>
            </a:r>
          </a:p>
          <a:p>
            <a:pPr marL="285750" indent="-285750">
              <a:spcAft>
                <a:spcPts val="1000"/>
              </a:spcAft>
              <a:buFont typeface="Arial"/>
              <a:buChar char="•"/>
            </a:pPr>
            <a:r>
              <a:rPr lang="en-US" sz="1600" b="1" dirty="0">
                <a:solidFill>
                  <a:srgbClr val="C00000"/>
                </a:solidFill>
              </a:rPr>
              <a:t>Deep learning / sequence models: </a:t>
            </a:r>
            <a:r>
              <a:rPr lang="en-US" sz="1600" dirty="0">
                <a:solidFill>
                  <a:srgbClr val="262626"/>
                </a:solidFill>
              </a:rPr>
              <a:t>LSTMs and autoencoders capture temporal user behavior and are powerful, but need large labeled datasets and are harder to interpret for security audits.</a:t>
            </a:r>
          </a:p>
          <a:p>
            <a:pPr marL="285750" indent="-285750">
              <a:spcAft>
                <a:spcPts val="1000"/>
              </a:spcAft>
              <a:buFont typeface="Arial"/>
              <a:buChar char="•"/>
            </a:pPr>
            <a:r>
              <a:rPr lang="en-US" sz="1600" b="1" dirty="0">
                <a:solidFill>
                  <a:srgbClr val="C00000"/>
                </a:solidFill>
              </a:rPr>
              <a:t>This project's direction — regularized linear models: </a:t>
            </a:r>
            <a:r>
              <a:rPr lang="en-US" sz="1600" dirty="0">
                <a:solidFill>
                  <a:srgbClr val="262626"/>
                </a:solidFill>
              </a:rPr>
              <a:t>Elastic Net logistic regression balances feature selection (L1) with stability under correlated inputs (L2) — a strong, interpretable fit given the highly correlated behavioral features observed in this dataset (e.g. file_access_count and unique_files_accessed, r ≈ 0.90).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ProbTitle"/>
          <p:cNvSpPr txBox="1"/>
          <p:nvPr/>
        </p:nvSpPr>
        <p:spPr>
          <a:xfrm>
            <a:off x="685800" y="950000"/>
            <a:ext cx="10820000" cy="400000"/>
          </a:xfrm>
          <a:prstGeom prst="rect">
            <a:avLst/>
          </a:prstGeom>
          <a:noFill/>
        </p:spPr>
        <p:txBody>
          <a:bodyPr wrap="square" anchor="t"/>
          <a:lstStyle/>
          <a:p>
            <a:pPr>
              <a:spcAft>
                <a:spcPts val="0"/>
              </a:spcAft>
            </a:pPr>
            <a:r>
              <a:rPr lang="en-US" sz="1700" b="1" dirty="0">
                <a:solidFill>
                  <a:srgbClr val="C00000"/>
                </a:solidFill>
              </a:rPr>
              <a:t>Problem Statement</a:t>
            </a:r>
          </a:p>
        </p:txBody>
      </p:sp>
      <p:sp>
        <p:nvSpPr>
          <p:cNvPr id="11" name="ProbBody"/>
          <p:cNvSpPr txBox="1"/>
          <p:nvPr/>
        </p:nvSpPr>
        <p:spPr>
          <a:xfrm>
            <a:off x="685800" y="1380000"/>
            <a:ext cx="10820000" cy="1450000"/>
          </a:xfrm>
          <a:prstGeom prst="rect">
            <a:avLst/>
          </a:prstGeom>
          <a:noFill/>
        </p:spPr>
        <p:txBody>
          <a:bodyPr wrap="square" anchor="t">
            <a:normAutofit/>
          </a:bodyPr>
          <a:lstStyle/>
          <a:p>
            <a:pPr>
              <a:spcAft>
                <a:spcPts val="0"/>
              </a:spcAft>
            </a:pPr>
            <a:r>
              <a:rPr lang="en-US" sz="1500" dirty="0">
                <a:solidFill>
                  <a:srgbClr val="262626"/>
                </a:solidFill>
              </a:rPr>
              <a:t>Malicious insiders act using valid credentials, so their activity blends into normal traffic and manual log review doesn't scale. Unregularized models further struggle with the many correlated behavioral features (e.g. file access and download volume) and the roughly 4:1 imbalance between normal and threat events.</a:t>
            </a:r>
          </a:p>
        </p:txBody>
      </p:sp>
      <p:sp>
        <p:nvSpPr>
          <p:cNvPr id="12" name="ObjTitle"/>
          <p:cNvSpPr txBox="1"/>
          <p:nvPr/>
        </p:nvSpPr>
        <p:spPr>
          <a:xfrm>
            <a:off x="685800" y="2950000"/>
            <a:ext cx="10820000" cy="400000"/>
          </a:xfrm>
          <a:prstGeom prst="rect">
            <a:avLst/>
          </a:prstGeom>
          <a:noFill/>
        </p:spPr>
        <p:txBody>
          <a:bodyPr wrap="square" anchor="t"/>
          <a:lstStyle/>
          <a:p>
            <a:pPr>
              <a:spcAft>
                <a:spcPts val="0"/>
              </a:spcAft>
            </a:pPr>
            <a:r>
              <a:rPr lang="en-US" sz="1700" b="1" dirty="0">
                <a:solidFill>
                  <a:srgbClr val="C00000"/>
                </a:solidFill>
              </a:rPr>
              <a:t>Objectives</a:t>
            </a:r>
          </a:p>
        </p:txBody>
      </p:sp>
      <p:sp>
        <p:nvSpPr>
          <p:cNvPr id="13" name="ObjBody"/>
          <p:cNvSpPr txBox="1"/>
          <p:nvPr/>
        </p:nvSpPr>
        <p:spPr>
          <a:xfrm>
            <a:off x="685800" y="3380000"/>
            <a:ext cx="10820000" cy="3000000"/>
          </a:xfrm>
          <a:prstGeom prst="rect">
            <a:avLst/>
          </a:prstGeom>
          <a:noFill/>
        </p:spPr>
        <p:txBody>
          <a:bodyPr wrap="square" anchor="t">
            <a:normAutofit/>
          </a:bodyPr>
          <a:lstStyle/>
          <a:p>
            <a:pPr marL="285750" indent="-285750">
              <a:spcAft>
                <a:spcPts val="1000"/>
              </a:spcAft>
              <a:buFont typeface="Arial"/>
              <a:buChar char="•"/>
            </a:pPr>
            <a:r>
              <a:rPr lang="en-US" sz="1500" dirty="0">
                <a:solidFill>
                  <a:srgbClr val="262626"/>
                </a:solidFill>
              </a:rPr>
              <a:t>Perform structural EDA and data-quality checks on the 1500-record insider-threat log dataset.</a:t>
            </a:r>
          </a:p>
          <a:p>
            <a:pPr marL="285750" indent="-285750">
              <a:spcAft>
                <a:spcPts val="1000"/>
              </a:spcAft>
              <a:buFont typeface="Arial"/>
              <a:buChar char="•"/>
            </a:pPr>
            <a:r>
              <a:rPr lang="en-US" sz="1500" dirty="0">
                <a:solidFill>
                  <a:srgbClr val="262626"/>
                </a:solidFill>
              </a:rPr>
              <a:t>Engineer and encode behavioral and categorical features (department, role, device type) for modeling.</a:t>
            </a:r>
          </a:p>
          <a:p>
            <a:pPr marL="285750" indent="-285750">
              <a:spcAft>
                <a:spcPts val="1000"/>
              </a:spcAft>
              <a:buFont typeface="Arial"/>
              <a:buChar char="•"/>
            </a:pPr>
            <a:r>
              <a:rPr lang="en-US" sz="1500" dirty="0">
                <a:solidFill>
                  <a:srgbClr val="262626"/>
                </a:solidFill>
              </a:rPr>
              <a:t>Handle the 80:20 class imbalance via class-weighting or resampling.</a:t>
            </a:r>
          </a:p>
          <a:p>
            <a:pPr marL="285750" indent="-285750">
              <a:spcAft>
                <a:spcPts val="1000"/>
              </a:spcAft>
              <a:buFont typeface="Arial"/>
              <a:buChar char="•"/>
            </a:pPr>
            <a:r>
              <a:rPr lang="en-US" sz="1500" dirty="0">
                <a:solidFill>
                  <a:srgbClr val="262626"/>
                </a:solidFill>
              </a:rPr>
              <a:t>Train an Elastic Net regularized Logistic Regression classifier that selects relevant features and controls multicollinearity.</a:t>
            </a:r>
          </a:p>
          <a:p>
            <a:pPr marL="285750" indent="-285750">
              <a:spcAft>
                <a:spcPts val="1000"/>
              </a:spcAft>
              <a:buFont typeface="Arial"/>
              <a:buChar char="•"/>
            </a:pPr>
            <a:r>
              <a:rPr lang="en-US" sz="1500" dirty="0">
                <a:solidFill>
                  <a:srgbClr val="262626"/>
                </a:solidFill>
              </a:rPr>
              <a:t>Evaluate the model using accuracy, precision, recall, F1-score, and ROC-AUC.</a:t>
            </a:r>
          </a:p>
          <a:p>
            <a:pPr marL="285750" indent="-285750">
              <a:spcAft>
                <a:spcPts val="1000"/>
              </a:spcAft>
              <a:buFont typeface="Arial"/>
              <a:buChar char="•"/>
            </a:pPr>
            <a:r>
              <a:rPr lang="en-US" sz="1500" dirty="0">
                <a:solidFill>
                  <a:srgbClr val="262626"/>
                </a:solidFill>
              </a:rPr>
              <a:t>Deliver an interpretable, deployable screening tool for security analysts.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10" name="FlowBox0"/>
          <p:cNvSpPr/>
          <p:nvPr/>
        </p:nvSpPr>
        <p:spPr>
          <a:xfrm>
            <a:off x="2796000" y="940000"/>
            <a:ext cx="6600000" cy="560000"/>
          </a:xfrm>
          <a:prstGeom prst="roundRect">
            <a:avLst>
              <a:gd name="adj" fmla="val 6000"/>
            </a:avLst>
          </a:prstGeom>
          <a:solidFill>
            <a:srgbClr val="FBECEC"/>
          </a:solidFill>
        </p:spPr>
        <p:txBody>
          <a:bodyPr/>
          <a:lstStyle/>
          <a:p>
            <a:endParaRPr lang="en-US"/>
          </a:p>
        </p:txBody>
      </p:sp>
      <p:sp>
        <p:nvSpPr>
          <p:cNvPr id="11" name="FlowLabel0"/>
          <p:cNvSpPr txBox="1"/>
          <p:nvPr/>
        </p:nvSpPr>
        <p:spPr>
          <a:xfrm>
            <a:off x="2796000" y="940000"/>
            <a:ext cx="6600000" cy="560000"/>
          </a:xfrm>
          <a:prstGeom prst="rect">
            <a:avLst/>
          </a:prstGeom>
          <a:noFill/>
        </p:spPr>
        <p:txBody>
          <a:bodyPr wrap="square" anchor="ctr"/>
          <a:lstStyle/>
          <a:p>
            <a:pPr algn="ctr">
              <a:spcAft>
                <a:spcPts val="0"/>
              </a:spcAft>
            </a:pPr>
            <a:r>
              <a:rPr lang="en-US" sz="1400" b="1" dirty="0">
                <a:solidFill>
                  <a:srgbClr val="7A0000"/>
                </a:solidFill>
              </a:rPr>
              <a:t>1.  Data Collection (raw behavioral logs)</a:t>
            </a:r>
          </a:p>
        </p:txBody>
      </p:sp>
      <p:sp>
        <p:nvSpPr>
          <p:cNvPr id="12" name="Arrow0"/>
          <p:cNvSpPr txBox="1"/>
          <p:nvPr/>
        </p:nvSpPr>
        <p:spPr>
          <a:xfrm>
            <a:off x="2796000" y="1500000"/>
            <a:ext cx="6600000" cy="190000"/>
          </a:xfrm>
          <a:prstGeom prst="rect">
            <a:avLst/>
          </a:prstGeom>
          <a:noFill/>
        </p:spPr>
        <p:txBody>
          <a:bodyPr wrap="square" anchor="ctr"/>
          <a:lstStyle/>
          <a:p>
            <a:pPr algn="ctr">
              <a:spcAft>
                <a:spcPts val="0"/>
              </a:spcAft>
            </a:pPr>
            <a:r>
              <a:rPr lang="en-US" sz="1400" b="1" dirty="0">
                <a:solidFill>
                  <a:srgbClr val="C00000"/>
                </a:solidFill>
              </a:rPr>
              <a:t>↓</a:t>
            </a:r>
          </a:p>
        </p:txBody>
      </p:sp>
      <p:sp>
        <p:nvSpPr>
          <p:cNvPr id="13" name="FlowBox1"/>
          <p:cNvSpPr/>
          <p:nvPr/>
        </p:nvSpPr>
        <p:spPr>
          <a:xfrm>
            <a:off x="2796000" y="1690000"/>
            <a:ext cx="6600000" cy="560000"/>
          </a:xfrm>
          <a:prstGeom prst="roundRect">
            <a:avLst>
              <a:gd name="adj" fmla="val 6000"/>
            </a:avLst>
          </a:prstGeom>
          <a:solidFill>
            <a:srgbClr val="F3D9D9"/>
          </a:solidFill>
        </p:spPr>
        <p:txBody>
          <a:bodyPr/>
          <a:lstStyle/>
          <a:p>
            <a:endParaRPr lang="en-US"/>
          </a:p>
        </p:txBody>
      </p:sp>
      <p:sp>
        <p:nvSpPr>
          <p:cNvPr id="14" name="FlowLabel1"/>
          <p:cNvSpPr txBox="1"/>
          <p:nvPr/>
        </p:nvSpPr>
        <p:spPr>
          <a:xfrm>
            <a:off x="2796000" y="1690000"/>
            <a:ext cx="6600000" cy="560000"/>
          </a:xfrm>
          <a:prstGeom prst="rect">
            <a:avLst/>
          </a:prstGeom>
          <a:noFill/>
        </p:spPr>
        <p:txBody>
          <a:bodyPr wrap="square" anchor="ctr"/>
          <a:lstStyle/>
          <a:p>
            <a:pPr algn="ctr">
              <a:spcAft>
                <a:spcPts val="0"/>
              </a:spcAft>
            </a:pPr>
            <a:r>
              <a:rPr lang="en-US" sz="1400" b="1" dirty="0">
                <a:solidFill>
                  <a:srgbClr val="7A0000"/>
                </a:solidFill>
              </a:rPr>
              <a:t>2.  Data Quality Checks (missing values &amp; duplicates)</a:t>
            </a:r>
          </a:p>
        </p:txBody>
      </p:sp>
      <p:sp>
        <p:nvSpPr>
          <p:cNvPr id="15" name="Arrow1"/>
          <p:cNvSpPr txBox="1"/>
          <p:nvPr/>
        </p:nvSpPr>
        <p:spPr>
          <a:xfrm>
            <a:off x="2796000" y="2250000"/>
            <a:ext cx="6600000" cy="190000"/>
          </a:xfrm>
          <a:prstGeom prst="rect">
            <a:avLst/>
          </a:prstGeom>
          <a:noFill/>
        </p:spPr>
        <p:txBody>
          <a:bodyPr wrap="square" anchor="ctr"/>
          <a:lstStyle/>
          <a:p>
            <a:pPr algn="ctr">
              <a:spcAft>
                <a:spcPts val="0"/>
              </a:spcAft>
            </a:pPr>
            <a:r>
              <a:rPr lang="en-US" sz="1400" b="1" dirty="0">
                <a:solidFill>
                  <a:srgbClr val="C00000"/>
                </a:solidFill>
              </a:rPr>
              <a:t>↓</a:t>
            </a:r>
          </a:p>
        </p:txBody>
      </p:sp>
      <p:sp>
        <p:nvSpPr>
          <p:cNvPr id="16" name="FlowBox2"/>
          <p:cNvSpPr/>
          <p:nvPr/>
        </p:nvSpPr>
        <p:spPr>
          <a:xfrm>
            <a:off x="2796000" y="2440000"/>
            <a:ext cx="6600000" cy="560000"/>
          </a:xfrm>
          <a:prstGeom prst="roundRect">
            <a:avLst>
              <a:gd name="adj" fmla="val 6000"/>
            </a:avLst>
          </a:prstGeom>
          <a:solidFill>
            <a:srgbClr val="FBECEC"/>
          </a:solidFill>
        </p:spPr>
        <p:txBody>
          <a:bodyPr/>
          <a:lstStyle/>
          <a:p>
            <a:endParaRPr lang="en-US"/>
          </a:p>
        </p:txBody>
      </p:sp>
      <p:sp>
        <p:nvSpPr>
          <p:cNvPr id="17" name="FlowLabel2"/>
          <p:cNvSpPr txBox="1"/>
          <p:nvPr/>
        </p:nvSpPr>
        <p:spPr>
          <a:xfrm>
            <a:off x="2796000" y="2440000"/>
            <a:ext cx="6600000" cy="560000"/>
          </a:xfrm>
          <a:prstGeom prst="rect">
            <a:avLst/>
          </a:prstGeom>
          <a:noFill/>
        </p:spPr>
        <p:txBody>
          <a:bodyPr wrap="square" anchor="ctr"/>
          <a:lstStyle/>
          <a:p>
            <a:pPr algn="ctr">
              <a:spcAft>
                <a:spcPts val="0"/>
              </a:spcAft>
            </a:pPr>
            <a:r>
              <a:rPr lang="en-US" sz="1400" b="1" dirty="0">
                <a:solidFill>
                  <a:srgbClr val="7A0000"/>
                </a:solidFill>
              </a:rPr>
              <a:t>3.  Exploratory Data Analysis (EDA)</a:t>
            </a:r>
          </a:p>
        </p:txBody>
      </p:sp>
      <p:sp>
        <p:nvSpPr>
          <p:cNvPr id="18" name="Arrow2"/>
          <p:cNvSpPr txBox="1"/>
          <p:nvPr/>
        </p:nvSpPr>
        <p:spPr>
          <a:xfrm>
            <a:off x="2796000" y="3000000"/>
            <a:ext cx="6600000" cy="190000"/>
          </a:xfrm>
          <a:prstGeom prst="rect">
            <a:avLst/>
          </a:prstGeom>
          <a:noFill/>
        </p:spPr>
        <p:txBody>
          <a:bodyPr wrap="square" anchor="ctr"/>
          <a:lstStyle/>
          <a:p>
            <a:pPr algn="ctr">
              <a:spcAft>
                <a:spcPts val="0"/>
              </a:spcAft>
            </a:pPr>
            <a:r>
              <a:rPr lang="en-US" sz="1400" b="1" dirty="0">
                <a:solidFill>
                  <a:srgbClr val="C00000"/>
                </a:solidFill>
              </a:rPr>
              <a:t>↓</a:t>
            </a:r>
          </a:p>
        </p:txBody>
      </p:sp>
      <p:sp>
        <p:nvSpPr>
          <p:cNvPr id="19" name="FlowBox3"/>
          <p:cNvSpPr/>
          <p:nvPr/>
        </p:nvSpPr>
        <p:spPr>
          <a:xfrm>
            <a:off x="2796000" y="3190000"/>
            <a:ext cx="6600000" cy="560000"/>
          </a:xfrm>
          <a:prstGeom prst="roundRect">
            <a:avLst>
              <a:gd name="adj" fmla="val 6000"/>
            </a:avLst>
          </a:prstGeom>
          <a:solidFill>
            <a:srgbClr val="F3D9D9"/>
          </a:solidFill>
        </p:spPr>
        <p:txBody>
          <a:bodyPr/>
          <a:lstStyle/>
          <a:p>
            <a:endParaRPr lang="en-US"/>
          </a:p>
        </p:txBody>
      </p:sp>
      <p:sp>
        <p:nvSpPr>
          <p:cNvPr id="20" name="FlowLabel3"/>
          <p:cNvSpPr txBox="1"/>
          <p:nvPr/>
        </p:nvSpPr>
        <p:spPr>
          <a:xfrm>
            <a:off x="2796000" y="3190000"/>
            <a:ext cx="6600000" cy="560000"/>
          </a:xfrm>
          <a:prstGeom prst="rect">
            <a:avLst/>
          </a:prstGeom>
          <a:noFill/>
        </p:spPr>
        <p:txBody>
          <a:bodyPr wrap="square" anchor="ctr"/>
          <a:lstStyle/>
          <a:p>
            <a:pPr algn="ctr">
              <a:spcAft>
                <a:spcPts val="0"/>
              </a:spcAft>
            </a:pPr>
            <a:r>
              <a:rPr lang="en-US" sz="1400" b="1" dirty="0">
                <a:solidFill>
                  <a:srgbClr val="7A0000"/>
                </a:solidFill>
              </a:rPr>
              <a:t>4.  Feature Engineering &amp; Encoding</a:t>
            </a:r>
          </a:p>
        </p:txBody>
      </p:sp>
      <p:sp>
        <p:nvSpPr>
          <p:cNvPr id="21" name="Arrow3"/>
          <p:cNvSpPr txBox="1"/>
          <p:nvPr/>
        </p:nvSpPr>
        <p:spPr>
          <a:xfrm>
            <a:off x="2796000" y="3750000"/>
            <a:ext cx="6600000" cy="190000"/>
          </a:xfrm>
          <a:prstGeom prst="rect">
            <a:avLst/>
          </a:prstGeom>
          <a:noFill/>
        </p:spPr>
        <p:txBody>
          <a:bodyPr wrap="square" anchor="ctr"/>
          <a:lstStyle/>
          <a:p>
            <a:pPr algn="ctr">
              <a:spcAft>
                <a:spcPts val="0"/>
              </a:spcAft>
            </a:pPr>
            <a:r>
              <a:rPr lang="en-US" sz="1400" b="1" dirty="0">
                <a:solidFill>
                  <a:srgbClr val="C00000"/>
                </a:solidFill>
              </a:rPr>
              <a:t>↓</a:t>
            </a:r>
          </a:p>
        </p:txBody>
      </p:sp>
      <p:sp>
        <p:nvSpPr>
          <p:cNvPr id="22" name="FlowBox4"/>
          <p:cNvSpPr/>
          <p:nvPr/>
        </p:nvSpPr>
        <p:spPr>
          <a:xfrm>
            <a:off x="2796000" y="3940000"/>
            <a:ext cx="6600000" cy="560000"/>
          </a:xfrm>
          <a:prstGeom prst="roundRect">
            <a:avLst>
              <a:gd name="adj" fmla="val 6000"/>
            </a:avLst>
          </a:prstGeom>
          <a:solidFill>
            <a:srgbClr val="FBECEC"/>
          </a:solidFill>
        </p:spPr>
        <p:txBody>
          <a:bodyPr/>
          <a:lstStyle/>
          <a:p>
            <a:endParaRPr lang="en-US"/>
          </a:p>
        </p:txBody>
      </p:sp>
      <p:sp>
        <p:nvSpPr>
          <p:cNvPr id="23" name="FlowLabel4"/>
          <p:cNvSpPr txBox="1"/>
          <p:nvPr/>
        </p:nvSpPr>
        <p:spPr>
          <a:xfrm>
            <a:off x="2796000" y="3940000"/>
            <a:ext cx="6600000" cy="560000"/>
          </a:xfrm>
          <a:prstGeom prst="rect">
            <a:avLst/>
          </a:prstGeom>
          <a:noFill/>
        </p:spPr>
        <p:txBody>
          <a:bodyPr wrap="square" anchor="ctr"/>
          <a:lstStyle/>
          <a:p>
            <a:pPr algn="ctr">
              <a:spcAft>
                <a:spcPts val="0"/>
              </a:spcAft>
            </a:pPr>
            <a:r>
              <a:rPr lang="en-US" sz="1400" b="1" dirty="0">
                <a:solidFill>
                  <a:srgbClr val="7A0000"/>
                </a:solidFill>
              </a:rPr>
              <a:t>5.  Train / Test Split + Class-Imbalance Handling</a:t>
            </a:r>
          </a:p>
        </p:txBody>
      </p:sp>
      <p:sp>
        <p:nvSpPr>
          <p:cNvPr id="24" name="Arrow4"/>
          <p:cNvSpPr txBox="1"/>
          <p:nvPr/>
        </p:nvSpPr>
        <p:spPr>
          <a:xfrm>
            <a:off x="2796000" y="4500000"/>
            <a:ext cx="6600000" cy="190000"/>
          </a:xfrm>
          <a:prstGeom prst="rect">
            <a:avLst/>
          </a:prstGeom>
          <a:noFill/>
        </p:spPr>
        <p:txBody>
          <a:bodyPr wrap="square" anchor="ctr"/>
          <a:lstStyle/>
          <a:p>
            <a:pPr algn="ctr">
              <a:spcAft>
                <a:spcPts val="0"/>
              </a:spcAft>
            </a:pPr>
            <a:r>
              <a:rPr lang="en-US" sz="1400" b="1" dirty="0">
                <a:solidFill>
                  <a:srgbClr val="C00000"/>
                </a:solidFill>
              </a:rPr>
              <a:t>↓</a:t>
            </a:r>
          </a:p>
        </p:txBody>
      </p:sp>
      <p:sp>
        <p:nvSpPr>
          <p:cNvPr id="25" name="FlowBox5"/>
          <p:cNvSpPr/>
          <p:nvPr/>
        </p:nvSpPr>
        <p:spPr>
          <a:xfrm>
            <a:off x="2796000" y="4690000"/>
            <a:ext cx="6600000" cy="560000"/>
          </a:xfrm>
          <a:prstGeom prst="roundRect">
            <a:avLst>
              <a:gd name="adj" fmla="val 6000"/>
            </a:avLst>
          </a:prstGeom>
          <a:solidFill>
            <a:srgbClr val="F3D9D9"/>
          </a:solidFill>
        </p:spPr>
        <p:txBody>
          <a:bodyPr/>
          <a:lstStyle/>
          <a:p>
            <a:endParaRPr lang="en-US"/>
          </a:p>
        </p:txBody>
      </p:sp>
      <p:sp>
        <p:nvSpPr>
          <p:cNvPr id="26" name="FlowLabel5"/>
          <p:cNvSpPr txBox="1"/>
          <p:nvPr/>
        </p:nvSpPr>
        <p:spPr>
          <a:xfrm>
            <a:off x="2796000" y="4690000"/>
            <a:ext cx="6600000" cy="560000"/>
          </a:xfrm>
          <a:prstGeom prst="rect">
            <a:avLst/>
          </a:prstGeom>
          <a:noFill/>
        </p:spPr>
        <p:txBody>
          <a:bodyPr wrap="square" anchor="ctr"/>
          <a:lstStyle/>
          <a:p>
            <a:pPr algn="ctr">
              <a:spcAft>
                <a:spcPts val="0"/>
              </a:spcAft>
            </a:pPr>
            <a:r>
              <a:rPr lang="en-US" sz="1400" b="1" dirty="0">
                <a:solidFill>
                  <a:srgbClr val="7A0000"/>
                </a:solidFill>
              </a:rPr>
              <a:t>6.  Elastic Net Logistic Regression Training</a:t>
            </a:r>
          </a:p>
        </p:txBody>
      </p:sp>
      <p:sp>
        <p:nvSpPr>
          <p:cNvPr id="27" name="Arrow5"/>
          <p:cNvSpPr txBox="1"/>
          <p:nvPr/>
        </p:nvSpPr>
        <p:spPr>
          <a:xfrm>
            <a:off x="2796000" y="5250000"/>
            <a:ext cx="6600000" cy="190000"/>
          </a:xfrm>
          <a:prstGeom prst="rect">
            <a:avLst/>
          </a:prstGeom>
          <a:noFill/>
        </p:spPr>
        <p:txBody>
          <a:bodyPr wrap="square" anchor="ctr"/>
          <a:lstStyle/>
          <a:p>
            <a:pPr algn="ctr">
              <a:spcAft>
                <a:spcPts val="0"/>
              </a:spcAft>
            </a:pPr>
            <a:r>
              <a:rPr lang="en-US" sz="1400" b="1" dirty="0">
                <a:solidFill>
                  <a:srgbClr val="C00000"/>
                </a:solidFill>
              </a:rPr>
              <a:t>↓</a:t>
            </a:r>
          </a:p>
        </p:txBody>
      </p:sp>
      <p:sp>
        <p:nvSpPr>
          <p:cNvPr id="28" name="FlowBox6"/>
          <p:cNvSpPr/>
          <p:nvPr/>
        </p:nvSpPr>
        <p:spPr>
          <a:xfrm>
            <a:off x="2796000" y="5440000"/>
            <a:ext cx="6600000" cy="560000"/>
          </a:xfrm>
          <a:prstGeom prst="roundRect">
            <a:avLst>
              <a:gd name="adj" fmla="val 6000"/>
            </a:avLst>
          </a:prstGeom>
          <a:solidFill>
            <a:srgbClr val="FBECEC"/>
          </a:solidFill>
        </p:spPr>
        <p:txBody>
          <a:bodyPr/>
          <a:lstStyle/>
          <a:p>
            <a:endParaRPr lang="en-US"/>
          </a:p>
        </p:txBody>
      </p:sp>
      <p:sp>
        <p:nvSpPr>
          <p:cNvPr id="29" name="FlowLabel6"/>
          <p:cNvSpPr txBox="1"/>
          <p:nvPr/>
        </p:nvSpPr>
        <p:spPr>
          <a:xfrm>
            <a:off x="2796000" y="5440000"/>
            <a:ext cx="6600000" cy="560000"/>
          </a:xfrm>
          <a:prstGeom prst="rect">
            <a:avLst/>
          </a:prstGeom>
          <a:noFill/>
        </p:spPr>
        <p:txBody>
          <a:bodyPr wrap="square" anchor="ctr"/>
          <a:lstStyle/>
          <a:p>
            <a:pPr algn="ctr">
              <a:spcAft>
                <a:spcPts val="0"/>
              </a:spcAft>
            </a:pPr>
            <a:r>
              <a:rPr lang="en-US" sz="1400" b="1" dirty="0">
                <a:solidFill>
                  <a:srgbClr val="7A0000"/>
                </a:solidFill>
              </a:rPr>
              <a:t>7.  Model Evaluation &amp; Threat Classification Output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ResultsSubtitle"/>
          <p:cNvSpPr txBox="1"/>
          <p:nvPr/>
        </p:nvSpPr>
        <p:spPr>
          <a:xfrm>
            <a:off x="685800" y="890000"/>
            <a:ext cx="10820000" cy="330000"/>
          </a:xfrm>
          <a:prstGeom prst="rect">
            <a:avLst/>
          </a:prstGeom>
          <a:noFill/>
        </p:spPr>
        <p:txBody>
          <a:bodyPr wrap="square" anchor="t"/>
          <a:lstStyle/>
          <a:p>
            <a:pPr algn="ctr">
              <a:spcAft>
                <a:spcPts val="0"/>
              </a:spcAft>
            </a:pPr>
            <a:r>
              <a:rPr lang="en-US" sz="1300" b="1" dirty="0">
                <a:solidFill>
                  <a:srgbClr val="C00000"/>
                </a:solidFill>
              </a:rPr>
              <a:t>Phase 1 — Exploratory Data Analysis  (model training &amp; metrics: next phase)</a:t>
            </a:r>
          </a:p>
        </p:txBody>
      </p:sp>
      <p:sp>
        <p:nvSpPr>
          <p:cNvPr id="20" name="StatCard20"/>
          <p:cNvSpPr/>
          <p:nvPr/>
        </p:nvSpPr>
        <p:spPr>
          <a:xfrm>
            <a:off x="685800" y="1300000"/>
            <a:ext cx="2650000" cy="850000"/>
          </a:xfrm>
          <a:prstGeom prst="roundRect">
            <a:avLst>
              <a:gd name="adj" fmla="val 6000"/>
            </a:avLst>
          </a:prstGeom>
          <a:solidFill>
            <a:srgbClr val="FBECEC"/>
          </a:solidFill>
        </p:spPr>
        <p:txBody>
          <a:bodyPr/>
          <a:lstStyle/>
          <a:p>
            <a:endParaRPr lang="en-US"/>
          </a:p>
        </p:txBody>
      </p:sp>
      <p:sp>
        <p:nvSpPr>
          <p:cNvPr id="21" name="StatText20"/>
          <p:cNvSpPr txBox="1"/>
          <p:nvPr/>
        </p:nvSpPr>
        <p:spPr>
          <a:xfrm>
            <a:off x="685800" y="1275000"/>
            <a:ext cx="2650000" cy="900000"/>
          </a:xfrm>
          <a:prstGeom prst="rect">
            <a:avLst/>
          </a:prstGeom>
          <a:noFill/>
        </p:spPr>
        <p:txBody>
          <a:bodyPr wrap="square" anchor="ctr"/>
          <a:lstStyle/>
          <a:p>
            <a:pPr algn="ctr"/>
            <a:r>
              <a:rPr lang="en-US" sz="2400" b="1" dirty="0">
                <a:solidFill>
                  <a:srgbClr val="C00000"/>
                </a:solidFill>
              </a:rPr>
              <a:t>1500</a:t>
            </a:r>
          </a:p>
          <a:p>
            <a:pPr algn="ctr"/>
            <a:r>
              <a:rPr lang="en-US" sz="1200" dirty="0">
                <a:solidFill>
                  <a:srgbClr val="404040"/>
                </a:solidFill>
              </a:rPr>
              <a:t>Event records</a:t>
            </a:r>
          </a:p>
        </p:txBody>
      </p:sp>
      <p:sp>
        <p:nvSpPr>
          <p:cNvPr id="30" name="StatCard30"/>
          <p:cNvSpPr/>
          <p:nvPr/>
        </p:nvSpPr>
        <p:spPr>
          <a:xfrm>
            <a:off x="3465800" y="1300000"/>
            <a:ext cx="2650000" cy="850000"/>
          </a:xfrm>
          <a:prstGeom prst="roundRect">
            <a:avLst>
              <a:gd name="adj" fmla="val 6000"/>
            </a:avLst>
          </a:prstGeom>
          <a:solidFill>
            <a:srgbClr val="FBECEC"/>
          </a:solidFill>
        </p:spPr>
        <p:txBody>
          <a:bodyPr/>
          <a:lstStyle/>
          <a:p>
            <a:endParaRPr lang="en-US"/>
          </a:p>
        </p:txBody>
      </p:sp>
      <p:sp>
        <p:nvSpPr>
          <p:cNvPr id="31" name="StatText30"/>
          <p:cNvSpPr txBox="1"/>
          <p:nvPr/>
        </p:nvSpPr>
        <p:spPr>
          <a:xfrm>
            <a:off x="3465800" y="1275000"/>
            <a:ext cx="2650000" cy="900000"/>
          </a:xfrm>
          <a:prstGeom prst="rect">
            <a:avLst/>
          </a:prstGeom>
          <a:noFill/>
        </p:spPr>
        <p:txBody>
          <a:bodyPr wrap="square" anchor="ctr"/>
          <a:lstStyle/>
          <a:p>
            <a:pPr algn="ctr"/>
            <a:r>
              <a:rPr lang="en-US" sz="2400" b="1" dirty="0">
                <a:solidFill>
                  <a:srgbClr val="C00000"/>
                </a:solidFill>
              </a:rPr>
              <a:t>23</a:t>
            </a:r>
          </a:p>
          <a:p>
            <a:pPr algn="ctr"/>
            <a:r>
              <a:rPr lang="en-US" sz="1200" dirty="0">
                <a:solidFill>
                  <a:srgbClr val="404040"/>
                </a:solidFill>
              </a:rPr>
              <a:t>Features</a:t>
            </a:r>
          </a:p>
        </p:txBody>
      </p:sp>
      <p:sp>
        <p:nvSpPr>
          <p:cNvPr id="40" name="StatCard40"/>
          <p:cNvSpPr/>
          <p:nvPr/>
        </p:nvSpPr>
        <p:spPr>
          <a:xfrm>
            <a:off x="6245800" y="1300000"/>
            <a:ext cx="2650000" cy="850000"/>
          </a:xfrm>
          <a:prstGeom prst="roundRect">
            <a:avLst>
              <a:gd name="adj" fmla="val 6000"/>
            </a:avLst>
          </a:prstGeom>
          <a:solidFill>
            <a:srgbClr val="FBECEC"/>
          </a:solidFill>
        </p:spPr>
        <p:txBody>
          <a:bodyPr/>
          <a:lstStyle/>
          <a:p>
            <a:endParaRPr lang="en-US"/>
          </a:p>
        </p:txBody>
      </p:sp>
      <p:sp>
        <p:nvSpPr>
          <p:cNvPr id="41" name="StatText40"/>
          <p:cNvSpPr txBox="1"/>
          <p:nvPr/>
        </p:nvSpPr>
        <p:spPr>
          <a:xfrm>
            <a:off x="6245800" y="1275000"/>
            <a:ext cx="2650000" cy="900000"/>
          </a:xfrm>
          <a:prstGeom prst="rect">
            <a:avLst/>
          </a:prstGeom>
          <a:noFill/>
        </p:spPr>
        <p:txBody>
          <a:bodyPr wrap="square" anchor="ctr"/>
          <a:lstStyle/>
          <a:p>
            <a:pPr algn="ctr"/>
            <a:r>
              <a:rPr lang="en-US" sz="2400" b="1" dirty="0">
                <a:solidFill>
                  <a:srgbClr val="C00000"/>
                </a:solidFill>
              </a:rPr>
              <a:t>0</a:t>
            </a:r>
          </a:p>
          <a:p>
            <a:pPr algn="ctr"/>
            <a:r>
              <a:rPr lang="en-US" sz="1200" dirty="0">
                <a:solidFill>
                  <a:srgbClr val="404040"/>
                </a:solidFill>
              </a:rPr>
              <a:t>Missing / duplicate values</a:t>
            </a:r>
          </a:p>
        </p:txBody>
      </p:sp>
      <p:sp>
        <p:nvSpPr>
          <p:cNvPr id="50" name="StatCard50"/>
          <p:cNvSpPr/>
          <p:nvPr/>
        </p:nvSpPr>
        <p:spPr>
          <a:xfrm>
            <a:off x="9025800" y="1300000"/>
            <a:ext cx="2650000" cy="850000"/>
          </a:xfrm>
          <a:prstGeom prst="roundRect">
            <a:avLst>
              <a:gd name="adj" fmla="val 6000"/>
            </a:avLst>
          </a:prstGeom>
          <a:solidFill>
            <a:srgbClr val="FBECEC"/>
          </a:solidFill>
        </p:spPr>
        <p:txBody>
          <a:bodyPr/>
          <a:lstStyle/>
          <a:p>
            <a:endParaRPr lang="en-US"/>
          </a:p>
        </p:txBody>
      </p:sp>
      <p:sp>
        <p:nvSpPr>
          <p:cNvPr id="51" name="StatText50"/>
          <p:cNvSpPr txBox="1"/>
          <p:nvPr/>
        </p:nvSpPr>
        <p:spPr>
          <a:xfrm>
            <a:off x="9025800" y="1275000"/>
            <a:ext cx="2650000" cy="900000"/>
          </a:xfrm>
          <a:prstGeom prst="rect">
            <a:avLst/>
          </a:prstGeom>
          <a:noFill/>
        </p:spPr>
        <p:txBody>
          <a:bodyPr wrap="square" anchor="ctr"/>
          <a:lstStyle/>
          <a:p>
            <a:pPr algn="ctr"/>
            <a:r>
              <a:rPr lang="en-US" sz="2400" b="1" dirty="0">
                <a:solidFill>
                  <a:srgbClr val="C00000"/>
                </a:solidFill>
              </a:rPr>
              <a:t>80:20</a:t>
            </a:r>
          </a:p>
          <a:p>
            <a:pPr algn="ctr"/>
            <a:r>
              <a:rPr lang="en-US" sz="1200" dirty="0">
                <a:solidFill>
                  <a:srgbClr val="404040"/>
                </a:solidFill>
              </a:rPr>
              <a:t>Normal : Threat ratio</a:t>
            </a:r>
          </a:p>
        </p:txBody>
      </p:sp>
      <p:pic>
        <p:nvPicPr>
          <p:cNvPr id="60" name="CorrHeatmap"/>
          <p:cNvPicPr>
            <a:picLocks noChangeAspect="1"/>
          </p:cNvPicPr>
          <p:nvPr/>
        </p:nvPicPr>
        <p:blipFill>
          <a:blip r:embed="rId2"/>
          <a:stretch>
            <a:fillRect/>
          </a:stretch>
        </p:blipFill>
        <p:spPr>
          <a:xfrm>
            <a:off x="685800" y="2330000"/>
            <a:ext cx="3373200" cy="3000000"/>
          </a:xfrm>
          <a:prstGeom prst="rect">
            <a:avLst/>
          </a:prstGeom>
        </p:spPr>
      </p:pic>
      <p:sp>
        <p:nvSpPr>
          <p:cNvPr id="61" name="Cap1"/>
          <p:cNvSpPr txBox="1"/>
          <p:nvPr/>
        </p:nvSpPr>
        <p:spPr>
          <a:xfrm>
            <a:off x="685800" y="5360000"/>
            <a:ext cx="3373200" cy="260000"/>
          </a:xfrm>
          <a:prstGeom prst="rect">
            <a:avLst/>
          </a:prstGeom>
          <a:noFill/>
        </p:spPr>
        <p:txBody>
          <a:bodyPr wrap="square" anchor="t"/>
          <a:lstStyle/>
          <a:p>
            <a:pPr algn="ctr">
              <a:spcAft>
                <a:spcPts val="0"/>
              </a:spcAft>
            </a:pPr>
            <a:r>
              <a:rPr lang="en-US" sz="1050" dirty="0">
                <a:solidFill>
                  <a:srgbClr val="595959"/>
                </a:solidFill>
              </a:rPr>
              <a:t>Correlation heatmap — numerical features</a:t>
            </a:r>
          </a:p>
        </p:txBody>
      </p:sp>
      <p:pic>
        <p:nvPicPr>
          <p:cNvPr id="62" name="TargetDist"/>
          <p:cNvPicPr>
            <a:picLocks noChangeAspect="1"/>
          </p:cNvPicPr>
          <p:nvPr/>
        </p:nvPicPr>
        <p:blipFill>
          <a:blip r:embed="rId3"/>
          <a:stretch>
            <a:fillRect/>
          </a:stretch>
        </p:blipFill>
        <p:spPr>
          <a:xfrm>
            <a:off x="4359000" y="2330000"/>
            <a:ext cx="7029900" cy="3000000"/>
          </a:xfrm>
          <a:prstGeom prst="rect">
            <a:avLst/>
          </a:prstGeom>
        </p:spPr>
      </p:pic>
      <p:sp>
        <p:nvSpPr>
          <p:cNvPr id="63" name="Cap2"/>
          <p:cNvSpPr txBox="1"/>
          <p:nvPr/>
        </p:nvSpPr>
        <p:spPr>
          <a:xfrm>
            <a:off x="4359000" y="5360000"/>
            <a:ext cx="7029900" cy="260000"/>
          </a:xfrm>
          <a:prstGeom prst="rect">
            <a:avLst/>
          </a:prstGeom>
          <a:noFill/>
        </p:spPr>
        <p:txBody>
          <a:bodyPr wrap="square" anchor="t"/>
          <a:lstStyle/>
          <a:p>
            <a:pPr algn="ctr">
              <a:spcAft>
                <a:spcPts val="0"/>
              </a:spcAft>
            </a:pPr>
            <a:r>
              <a:rPr lang="en-US" sz="1050" dirty="0">
                <a:solidFill>
                  <a:srgbClr val="595959"/>
                </a:solidFill>
              </a:rPr>
              <a:t>Class distribution — Normal vs Threat (80% / 20%)</a:t>
            </a:r>
          </a:p>
        </p:txBody>
      </p:sp>
      <p:sp>
        <p:nvSpPr>
          <p:cNvPr id="64" name="KeyFindings"/>
          <p:cNvSpPr txBox="1"/>
          <p:nvPr/>
        </p:nvSpPr>
        <p:spPr>
          <a:xfrm>
            <a:off x="685800" y="5670000"/>
            <a:ext cx="10820000" cy="1050000"/>
          </a:xfrm>
          <a:prstGeom prst="rect">
            <a:avLst/>
          </a:prstGeom>
          <a:noFill/>
        </p:spPr>
        <p:txBody>
          <a:bodyPr wrap="square" anchor="t">
            <a:normAutofit/>
          </a:bodyPr>
          <a:lstStyle/>
          <a:p>
            <a:pPr marL="200000" indent="-200000">
              <a:spcAft>
                <a:spcPts val="300"/>
              </a:spcAft>
              <a:buFont typeface="Arial"/>
              <a:buChar char="•"/>
            </a:pPr>
            <a:r>
              <a:rPr lang="en-US" sz="1150" dirty="0">
                <a:solidFill>
                  <a:srgbClr val="262626"/>
                </a:solidFill>
              </a:rPr>
              <a:t>Sensitive-file access, after-hours access &amp; data downloads are markedly higher for threat events.</a:t>
            </a:r>
          </a:p>
          <a:p>
            <a:pPr marL="200000" indent="-200000">
              <a:spcAft>
                <a:spcPts val="300"/>
              </a:spcAft>
              <a:buFont typeface="Arial"/>
              <a:buChar char="•"/>
            </a:pPr>
            <a:r>
              <a:rPr lang="en-US" sz="1150" dirty="0">
                <a:solidFill>
                  <a:srgbClr val="262626"/>
                </a:solidFill>
              </a:rPr>
              <a:t>file_access_count, unique_files_accessed &amp; http_activity correlate most with insider_threat (r &gt; 0.9).</a:t>
            </a:r>
          </a:p>
          <a:p>
            <a:pPr marL="200000" indent="-200000">
              <a:spcAft>
                <a:spcPts val="0"/>
              </a:spcAft>
              <a:buFont typeface="Arial"/>
              <a:buChar char="•"/>
            </a:pPr>
            <a:r>
              <a:rPr lang="en-US" sz="1150" dirty="0">
                <a:solidFill>
                  <a:srgbClr val="262626"/>
                </a:solidFill>
              </a:rPr>
              <a:t>Many features are highly correlated (r &gt; 0.7) — motivating Elastic Net's combined L1/L2 penalty.</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HWTitle"/>
          <p:cNvSpPr txBox="1"/>
          <p:nvPr/>
        </p:nvSpPr>
        <p:spPr>
          <a:xfrm>
            <a:off x="685800" y="1150000"/>
            <a:ext cx="5200000" cy="400000"/>
          </a:xfrm>
          <a:prstGeom prst="rect">
            <a:avLst/>
          </a:prstGeom>
          <a:noFill/>
        </p:spPr>
        <p:txBody>
          <a:bodyPr wrap="square" anchor="t"/>
          <a:lstStyle/>
          <a:p>
            <a:pPr>
              <a:spcAft>
                <a:spcPts val="0"/>
              </a:spcAft>
            </a:pPr>
            <a:r>
              <a:rPr lang="en-US" sz="1700" b="1" dirty="0">
                <a:solidFill>
                  <a:srgbClr val="C00000"/>
                </a:solidFill>
              </a:rPr>
              <a:t>Hardware Requirements</a:t>
            </a:r>
          </a:p>
        </p:txBody>
      </p:sp>
      <p:sp>
        <p:nvSpPr>
          <p:cNvPr id="11" name="HWBody"/>
          <p:cNvSpPr txBox="1"/>
          <p:nvPr/>
        </p:nvSpPr>
        <p:spPr>
          <a:xfrm>
            <a:off x="685800" y="1650000"/>
            <a:ext cx="5200000" cy="4200000"/>
          </a:xfrm>
          <a:prstGeom prst="rect">
            <a:avLst/>
          </a:prstGeom>
          <a:noFill/>
        </p:spPr>
        <p:txBody>
          <a:bodyPr wrap="square" anchor="t">
            <a:normAutofit/>
          </a:bodyPr>
          <a:lstStyle/>
          <a:p>
            <a:pPr marL="285750" indent="-285750">
              <a:spcAft>
                <a:spcPts val="1000"/>
              </a:spcAft>
              <a:buFont typeface="Arial"/>
              <a:buChar char="•"/>
            </a:pPr>
            <a:r>
              <a:rPr lang="en-US" sz="1450" dirty="0">
                <a:solidFill>
                  <a:srgbClr val="262626"/>
                </a:solidFill>
              </a:rPr>
              <a:t>Processor: Intel i5 / AMD Ryzen 5 or higher</a:t>
            </a:r>
          </a:p>
          <a:p>
            <a:pPr marL="285750" indent="-285750">
              <a:spcAft>
                <a:spcPts val="1000"/>
              </a:spcAft>
              <a:buFont typeface="Arial"/>
              <a:buChar char="•"/>
            </a:pPr>
            <a:r>
              <a:rPr lang="en-US" sz="1450" dirty="0">
                <a:solidFill>
                  <a:srgbClr val="262626"/>
                </a:solidFill>
              </a:rPr>
              <a:t>RAM: 8 GB minimum (16 GB recommended)</a:t>
            </a:r>
          </a:p>
          <a:p>
            <a:pPr marL="285750" indent="-285750">
              <a:spcAft>
                <a:spcPts val="1000"/>
              </a:spcAft>
              <a:buFont typeface="Arial"/>
              <a:buChar char="•"/>
            </a:pPr>
            <a:r>
              <a:rPr lang="en-US" sz="1450" dirty="0">
                <a:solidFill>
                  <a:srgbClr val="262626"/>
                </a:solidFill>
              </a:rPr>
              <a:t>Storage: 5 GB free disk space</a:t>
            </a:r>
          </a:p>
          <a:p>
            <a:pPr marL="285750" indent="-285750">
              <a:spcAft>
                <a:spcPts val="1000"/>
              </a:spcAft>
              <a:buFont typeface="Arial"/>
              <a:buChar char="•"/>
            </a:pPr>
            <a:r>
              <a:rPr lang="en-US" sz="1450" dirty="0">
                <a:solidFill>
                  <a:srgbClr val="262626"/>
                </a:solidFill>
              </a:rPr>
              <a:t>GPU: not required (optional for future deep-learning extensions)</a:t>
            </a:r>
          </a:p>
          <a:p>
            <a:pPr marL="285750" indent="-285750">
              <a:spcAft>
                <a:spcPts val="1000"/>
              </a:spcAft>
              <a:buFont typeface="Arial"/>
              <a:buChar char="•"/>
            </a:pPr>
            <a:r>
              <a:rPr lang="en-US" sz="1450" dirty="0">
                <a:solidFill>
                  <a:srgbClr val="262626"/>
                </a:solidFill>
              </a:rPr>
              <a:t>Internet connection (for Colab / package installs)</a:t>
            </a:r>
          </a:p>
        </p:txBody>
      </p:sp>
      <p:sp>
        <p:nvSpPr>
          <p:cNvPr id="12" name="SWTitle"/>
          <p:cNvSpPr txBox="1"/>
          <p:nvPr/>
        </p:nvSpPr>
        <p:spPr>
          <a:xfrm>
            <a:off x="6350000" y="1150000"/>
            <a:ext cx="5150000" cy="400000"/>
          </a:xfrm>
          <a:prstGeom prst="rect">
            <a:avLst/>
          </a:prstGeom>
          <a:noFill/>
        </p:spPr>
        <p:txBody>
          <a:bodyPr wrap="square" anchor="t"/>
          <a:lstStyle/>
          <a:p>
            <a:pPr>
              <a:spcAft>
                <a:spcPts val="0"/>
              </a:spcAft>
            </a:pPr>
            <a:r>
              <a:rPr lang="en-US" sz="1700" b="1" dirty="0">
                <a:solidFill>
                  <a:srgbClr val="C00000"/>
                </a:solidFill>
              </a:rPr>
              <a:t>Software Requirements</a:t>
            </a:r>
          </a:p>
        </p:txBody>
      </p:sp>
      <p:sp>
        <p:nvSpPr>
          <p:cNvPr id="13" name="SWBody"/>
          <p:cNvSpPr txBox="1"/>
          <p:nvPr/>
        </p:nvSpPr>
        <p:spPr>
          <a:xfrm>
            <a:off x="6350000" y="1650000"/>
            <a:ext cx="5150000" cy="4200000"/>
          </a:xfrm>
          <a:prstGeom prst="rect">
            <a:avLst/>
          </a:prstGeom>
          <a:noFill/>
        </p:spPr>
        <p:txBody>
          <a:bodyPr wrap="square" anchor="t">
            <a:normAutofit/>
          </a:bodyPr>
          <a:lstStyle/>
          <a:p>
            <a:pPr marL="285750" indent="-285750">
              <a:spcAft>
                <a:spcPts val="1000"/>
              </a:spcAft>
              <a:buFont typeface="Arial"/>
              <a:buChar char="•"/>
            </a:pPr>
            <a:r>
              <a:rPr lang="en-US" sz="1450" dirty="0">
                <a:solidFill>
                  <a:srgbClr val="262626"/>
                </a:solidFill>
              </a:rPr>
              <a:t>Python 3.9 or higher</a:t>
            </a:r>
          </a:p>
          <a:p>
            <a:pPr marL="285750" indent="-285750">
              <a:spcAft>
                <a:spcPts val="1000"/>
              </a:spcAft>
              <a:buFont typeface="Arial"/>
              <a:buChar char="•"/>
            </a:pPr>
            <a:r>
              <a:rPr lang="en-US" sz="1450" dirty="0">
                <a:solidFill>
                  <a:srgbClr val="262626"/>
                </a:solidFill>
              </a:rPr>
              <a:t>Jupyter Notebook / Google Colab</a:t>
            </a:r>
          </a:p>
          <a:p>
            <a:pPr marL="285750" indent="-285750">
              <a:spcAft>
                <a:spcPts val="1000"/>
              </a:spcAft>
              <a:buFont typeface="Arial"/>
              <a:buChar char="•"/>
            </a:pPr>
            <a:r>
              <a:rPr lang="en-US" sz="1450" dirty="0">
                <a:solidFill>
                  <a:srgbClr val="262626"/>
                </a:solidFill>
              </a:rPr>
              <a:t>Libraries: pandas, NumPy, scikit-learn</a:t>
            </a:r>
          </a:p>
          <a:p>
            <a:pPr marL="285750" indent="-285750">
              <a:spcAft>
                <a:spcPts val="1000"/>
              </a:spcAft>
              <a:buFont typeface="Arial"/>
              <a:buChar char="•"/>
            </a:pPr>
            <a:r>
              <a:rPr lang="en-US" sz="1450" dirty="0">
                <a:solidFill>
                  <a:srgbClr val="262626"/>
                </a:solidFill>
              </a:rPr>
              <a:t>Libraries: matplotlib, seaborn (visualization)</a:t>
            </a:r>
          </a:p>
          <a:p>
            <a:pPr marL="285750" indent="-285750">
              <a:spcAft>
                <a:spcPts val="1000"/>
              </a:spcAft>
              <a:buFont typeface="Arial"/>
              <a:buChar char="•"/>
            </a:pPr>
            <a:r>
              <a:rPr lang="en-US" sz="1450" dirty="0">
                <a:solidFill>
                  <a:srgbClr val="262626"/>
                </a:solidFill>
              </a:rPr>
              <a:t>OS: Windows, Linux, or macOS</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ConclusionBody"/>
          <p:cNvSpPr txBox="1"/>
          <p:nvPr/>
        </p:nvSpPr>
        <p:spPr>
          <a:xfrm>
            <a:off x="685800" y="1000000"/>
            <a:ext cx="10820000" cy="5300000"/>
          </a:xfrm>
          <a:prstGeom prst="rect">
            <a:avLst/>
          </a:prstGeom>
          <a:noFill/>
        </p:spPr>
        <p:txBody>
          <a:bodyPr wrap="square" anchor="t">
            <a:normAutofit/>
          </a:bodyPr>
          <a:lstStyle/>
          <a:p>
            <a:pPr marL="285750" indent="-285750">
              <a:spcAft>
                <a:spcPts val="1000"/>
              </a:spcAft>
              <a:buFont typeface="Arial"/>
              <a:buChar char="•"/>
            </a:pPr>
            <a:r>
              <a:rPr lang="en-US" sz="1600" dirty="0">
                <a:solidFill>
                  <a:srgbClr val="262626"/>
                </a:solidFill>
              </a:rPr>
              <a:t>EDA on the 1500-record, 23-feature dataset confirmed clean data — no missing values or duplicates — alongside a notable 80:20 class imbalance.</a:t>
            </a:r>
          </a:p>
          <a:p>
            <a:pPr marL="285750" indent="-285750">
              <a:spcAft>
                <a:spcPts val="1000"/>
              </a:spcAft>
              <a:buFont typeface="Arial"/>
              <a:buChar char="•"/>
            </a:pPr>
            <a:r>
              <a:rPr lang="en-US" sz="1600" dirty="0">
                <a:solidFill>
                  <a:srgbClr val="262626"/>
                </a:solidFill>
              </a:rPr>
              <a:t>Behavioral features such as sensitive-file access, after-hours access, and data-download volume clearly separate threat from normal activity.</a:t>
            </a:r>
          </a:p>
          <a:p>
            <a:pPr marL="285750" indent="-285750">
              <a:spcAft>
                <a:spcPts val="1000"/>
              </a:spcAft>
              <a:buFont typeface="Arial"/>
              <a:buChar char="•"/>
            </a:pPr>
            <a:r>
              <a:rPr lang="en-US" sz="1600" dirty="0">
                <a:solidFill>
                  <a:srgbClr val="262626"/>
                </a:solidFill>
              </a:rPr>
              <a:t>Several features are highly correlated with one another, a strong motivation for Elastic Net's combined L1/L2 regularization.</a:t>
            </a:r>
          </a:p>
          <a:p>
            <a:pPr marL="285750" indent="-285750">
              <a:spcAft>
                <a:spcPts val="1000"/>
              </a:spcAft>
              <a:buFont typeface="Arial"/>
              <a:buChar char="•"/>
            </a:pPr>
            <a:r>
              <a:rPr lang="en-US" sz="1600" dirty="0">
                <a:solidFill>
                  <a:srgbClr val="262626"/>
                </a:solidFill>
              </a:rPr>
              <a:t>These findings validate the project's choice of an Elastic Net regularized Logistic Regression model — able to select informative signals while staying robust to multicollinearity.</a:t>
            </a:r>
          </a:p>
          <a:p>
            <a:pPr marL="285750" indent="-285750">
              <a:spcAft>
                <a:spcPts val="1000"/>
              </a:spcAft>
              <a:buFont typeface="Arial"/>
              <a:buChar char="•"/>
            </a:pPr>
            <a:r>
              <a:rPr lang="en-US" sz="1600" dirty="0">
                <a:solidFill>
                  <a:srgbClr val="262626"/>
                </a:solidFill>
              </a:rPr>
              <a:t>The next phase will encode categorical features, handle class imbalance, train the model, and evaluate it with accuracy, precision, recall, F1-score, and ROC-AUC.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FutureBody"/>
          <p:cNvSpPr txBox="1"/>
          <p:nvPr/>
        </p:nvSpPr>
        <p:spPr>
          <a:xfrm>
            <a:off x="685800" y="1000000"/>
            <a:ext cx="10820000" cy="5300000"/>
          </a:xfrm>
          <a:prstGeom prst="rect">
            <a:avLst/>
          </a:prstGeom>
          <a:noFill/>
        </p:spPr>
        <p:txBody>
          <a:bodyPr wrap="square" anchor="t">
            <a:normAutofit/>
          </a:bodyPr>
          <a:lstStyle/>
          <a:p>
            <a:pPr marL="285750" indent="-285750">
              <a:spcAft>
                <a:spcPts val="1000"/>
              </a:spcAft>
              <a:buFont typeface="Arial"/>
              <a:buChar char="•"/>
            </a:pPr>
            <a:r>
              <a:rPr lang="en-US" sz="1550" dirty="0">
                <a:solidFill>
                  <a:srgbClr val="262626"/>
                </a:solidFill>
              </a:rPr>
              <a:t>Train and tune the Elastic Net Logistic Regression model (regularization strength, l1_ratio) and benchmark against Random Forest, XGBoost and SVM baselines.</a:t>
            </a:r>
          </a:p>
          <a:p>
            <a:pPr marL="285750" indent="-285750">
              <a:spcAft>
                <a:spcPts val="1000"/>
              </a:spcAft>
              <a:buFont typeface="Arial"/>
              <a:buChar char="•"/>
            </a:pPr>
            <a:r>
              <a:rPr lang="en-US" sz="1550" dirty="0">
                <a:solidFill>
                  <a:srgbClr val="262626"/>
                </a:solidFill>
              </a:rPr>
              <a:t>Address the class imbalance with class-weighting, SMOTE, or threshold tuning.</a:t>
            </a:r>
          </a:p>
          <a:p>
            <a:pPr marL="285750" indent="-285750">
              <a:spcAft>
                <a:spcPts val="1000"/>
              </a:spcAft>
              <a:buFont typeface="Arial"/>
              <a:buChar char="•"/>
            </a:pPr>
            <a:r>
              <a:rPr lang="en-US" sz="1550" dirty="0">
                <a:solidFill>
                  <a:srgbClr val="262626"/>
                </a:solidFill>
              </a:rPr>
              <a:t>Extend features with temporal / session-level behavior for earlier warning detection.</a:t>
            </a:r>
          </a:p>
          <a:p>
            <a:pPr marL="285750" indent="-285750">
              <a:spcAft>
                <a:spcPts val="1000"/>
              </a:spcAft>
              <a:buFont typeface="Arial"/>
              <a:buChar char="•"/>
            </a:pPr>
            <a:r>
              <a:rPr lang="en-US" sz="1550" dirty="0">
                <a:solidFill>
                  <a:srgbClr val="262626"/>
                </a:solidFill>
              </a:rPr>
              <a:t>Integrate the model into a real-time monitoring dashboard for security teams with automated alerting.</a:t>
            </a:r>
          </a:p>
          <a:p>
            <a:pPr marL="285750" indent="-285750">
              <a:spcAft>
                <a:spcPts val="1000"/>
              </a:spcAft>
              <a:buFont typeface="Arial"/>
              <a:buChar char="•"/>
            </a:pPr>
            <a:r>
              <a:rPr lang="en-US" sz="1550" dirty="0">
                <a:solidFill>
                  <a:srgbClr val="262626"/>
                </a:solidFill>
              </a:rPr>
              <a:t>Explore deep learning (LSTM / autoencoder) approaches as more labeled data becomes available.</a:t>
            </a:r>
          </a:p>
          <a:p>
            <a:pPr marL="285750" indent="-285750">
              <a:spcAft>
                <a:spcPts val="1000"/>
              </a:spcAft>
              <a:buFont typeface="Arial"/>
              <a:buChar char="•"/>
            </a:pPr>
            <a:r>
              <a:rPr lang="en-US" sz="1550" dirty="0">
                <a:solidFill>
                  <a:srgbClr val="262626"/>
                </a:solidFill>
              </a:rPr>
              <a:t>Add explainability (e.g. SHAP) so analysts can audit why an event was flagged.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1216</Words>
  <Application>Microsoft Office PowerPoint</Application>
  <PresentationFormat>Widescreen</PresentationFormat>
  <Paragraphs>113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Machine Learning (25SC2107E)  Insider Threat Detection Using Elastic Net Regularized Logistic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Bhimavarapu Sai Saranya</cp:lastModifiedBy>
  <cp:revision>20</cp:revision>
  <dcterms:created xsi:type="dcterms:W3CDTF">2024-08-29T05:25:00Z</dcterms:created>
  <dcterms:modified xsi:type="dcterms:W3CDTF">2026-09-23T15:09:43Z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